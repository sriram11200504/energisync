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A56CA-382B-4698-A59E-64B4593C308A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CFDC5-91FB-499A-AB2D-33220B12F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564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c6749428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c6749428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c6749428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c6749428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c6749428a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c6749428a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c6749428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c6749428a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c6749428a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c6749428a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c6749428a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c6749428a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c6749428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c6749428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c6749428a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c6749428a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c6749428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c6749428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C508A-A564-FC0C-3110-8E0512C3D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AE961-73A0-9448-7179-62780C2DF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DAE07-7A90-EC80-98A4-7E74873D2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EBFF5-F9DF-0433-1EA0-F9241F41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E9264-8703-8410-9003-4089CED9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3DAA-C9D3-4B44-5388-4B2C960E5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67F9A-ED1C-5A9A-807D-82EAF82D0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09006-BF77-28BB-243A-C41A843A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2C0D6-1514-0230-0A6C-0F4A28F3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51ACC-4FF3-9E9A-B337-4169CB8C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803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2CF3-F56F-B233-0F01-61E7C8D62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74243-7CA5-67EA-23F6-EC25D22DC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9736A-10E0-C4B5-E2F6-119B26B5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E8231-8138-2606-D567-1DBBF6866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DA1CE-5293-1257-DAAA-0E984039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17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C5C4-6639-8BAA-9C51-28D35A1C9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C7FFF-69CA-60C0-3775-FA62DC5E5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5AF07-9DD2-B936-93F1-07176293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1FB98-696A-C496-8C9D-E8A224DB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8943B-4368-88AD-0243-FB738EF4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46989-664C-147A-A2D3-A960EEBE8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957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6469-858B-5A5E-7616-4EFCF7CB9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0E38C-CBC0-E964-01BE-5E172617C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0B871-3B41-96F7-1E71-A27A8479F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49AF1-3436-9359-871C-2F02918DE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3787E-E6CF-5A1F-0205-BC33A0875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FE71D-BC75-8F05-A42C-FBFC823F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07CA89-693F-DF9D-4729-C2889ECF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CE52F-5F07-64F7-79E9-6FB63BBE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91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B2CC-D04D-C54A-FAD6-43DF264CB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22EFC-27ED-2788-36A0-D1AE154DA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8031F1-FABE-E356-21D3-4E40F336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B9527-2126-0607-455E-B746F45D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38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7BD01-EC34-AAA5-7E1F-3CF0080C7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EDAC4-55C7-149C-C7AA-D0D43982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0378-29F6-DBF0-7182-D98FDEE8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85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2A52-1D32-1827-C2AD-D87D6B9A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4AFA8-5E05-F8B1-BF7E-44F8B8128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E1E31-1F46-A2A5-B373-E2BFA7707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076D9-904E-1B6E-867E-CFE87DAC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0FF5D-C66D-5A3A-4EAC-78A6F82ED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CA2C6-7B0C-570E-9D8C-1D71AAC1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5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C8A37-3953-D60F-FF8B-93B66611E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048BD-E2CF-BBA1-C374-72BE680CB5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C985A-43FB-B365-CA87-055372FFA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5230E-6CAB-2C99-3932-8B5AFD793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26541-2300-5A35-ED95-7E547F86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67C47-3601-BDA1-7BCB-51D3E301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35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41AE0-6662-EDE9-2D3C-5142CFD99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385AE-65E3-A9F5-73CC-5C49B7C6A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2913D-3189-5D53-C5B4-89FBAEC4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DC252-E39E-6D76-E7A3-2E5ECC1A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5CEEC-92D4-6300-34EB-203808C5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25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30936-8235-9508-3CB2-5BDA9DF72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99B6D-9068-5286-2277-05D9CA6DF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F7523-5692-3911-19E0-38BB05CD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4F04D-3372-904C-0CA1-EC1C43ECA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08306-B3F1-EBF9-CD03-8C0C0D17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44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730EA-D345-6335-A17D-153DB2DD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96874-E79C-01B9-B921-29456FF5E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B52AA-CF51-0B09-E3BC-77E730BDC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F9DCC-0C93-4A34-ACC3-ACF925EECC2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D2EA3-F93F-CE12-4816-F1A79DB2E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0148E-C372-86AB-FA39-CC090BB5E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5B42F-CF39-4F17-BC83-2648AC91BC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69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0" y="2219588"/>
            <a:ext cx="12192000" cy="261600"/>
          </a:xfrm>
          <a:prstGeom prst="rect">
            <a:avLst/>
          </a:prstGeom>
          <a:solidFill>
            <a:srgbClr val="081D5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rgbClr val="666666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03632" y="2596518"/>
            <a:ext cx="113608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267" b="1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Name </a:t>
            </a:r>
            <a:r>
              <a:rPr lang="en-GB" sz="2267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</a:t>
            </a:r>
            <a:r>
              <a:rPr lang="en-GB" sz="2267" dirty="0" err="1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Unique_coders</a:t>
            </a:r>
            <a:endParaRPr sz="2267" dirty="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03632" y="2988102"/>
            <a:ext cx="11360800" cy="54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267" b="1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Leader Name </a:t>
            </a:r>
            <a:r>
              <a:rPr lang="en-GB" sz="2267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Sriram Lohith</a:t>
            </a:r>
            <a:endParaRPr sz="2267" dirty="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03632" y="3388134"/>
            <a:ext cx="11360800" cy="2732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70000"/>
              </a:lnSpc>
            </a:pPr>
            <a:r>
              <a:rPr lang="en-GB" sz="2267" b="1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Statement </a:t>
            </a:r>
            <a:r>
              <a:rPr lang="en-GB" sz="2267" dirty="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Development of </a:t>
            </a:r>
            <a:r>
              <a:rPr lang="en-IN" sz="2267" dirty="0">
                <a:solidFill>
                  <a:srgbClr val="202729"/>
                </a:solidFill>
                <a:latin typeface="Poppins Medium"/>
              </a:rPr>
              <a:t>Unified Platform for Consumers -</a:t>
            </a:r>
            <a:r>
              <a:rPr lang="en-US" sz="2267" dirty="0">
                <a:solidFill>
                  <a:srgbClr val="202729"/>
                </a:solidFill>
                <a:latin typeface="Poppins Medium"/>
              </a:rPr>
              <a:t> A single integrated platform that combines smart metering data with connected appliance management, enabling consumers to:</a:t>
            </a:r>
          </a:p>
          <a:p>
            <a:pPr>
              <a:lnSpc>
                <a:spcPct val="70000"/>
              </a:lnSpc>
            </a:pPr>
            <a:endParaRPr lang="en-US" sz="2267" dirty="0">
              <a:solidFill>
                <a:srgbClr val="202729"/>
              </a:solidFill>
              <a:latin typeface="Poppins Medium"/>
            </a:endParaRP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267" dirty="0">
                <a:solidFill>
                  <a:srgbClr val="202729"/>
                </a:solidFill>
                <a:latin typeface="Poppins Medium"/>
              </a:rPr>
              <a:t>Monitor real-time energy usage.</a:t>
            </a: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267" dirty="0">
                <a:solidFill>
                  <a:srgbClr val="202729"/>
                </a:solidFill>
                <a:latin typeface="Poppins Medium"/>
              </a:rPr>
              <a:t>Control appliances (turn ON/OFF, schedule operations).</a:t>
            </a: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267" dirty="0">
                <a:solidFill>
                  <a:srgbClr val="202729"/>
                </a:solidFill>
                <a:latin typeface="Poppins Medium"/>
              </a:rPr>
              <a:t>Optimize consumption using time-of-day tariffs and smart recommendations.</a:t>
            </a: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267" dirty="0">
                <a:solidFill>
                  <a:srgbClr val="202729"/>
                </a:solidFill>
                <a:latin typeface="Poppins Medium"/>
              </a:rPr>
              <a:t>Gain visibility on energy savings and carbon footprint.</a:t>
            </a:r>
            <a:endParaRPr sz="2267" dirty="0">
              <a:solidFill>
                <a:srgbClr val="202729"/>
              </a:solidFill>
              <a:latin typeface="Poppins Medium"/>
              <a:sym typeface="Poppins Medium"/>
            </a:endParaRPr>
          </a:p>
        </p:txBody>
      </p:sp>
      <p:pic>
        <p:nvPicPr>
          <p:cNvPr id="9" name="Google Shape;65;p14" title="Instinct.S2.png">
            <a:extLst>
              <a:ext uri="{FF2B5EF4-FFF2-40B4-BE49-F238E27FC236}">
                <a16:creationId xmlns:a16="http://schemas.microsoft.com/office/drawing/2014/main" id="{720528FE-28CD-4378-A7F1-5E4E135FCE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-10973"/>
            <a:ext cx="12192000" cy="69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29F36D-EC30-4CB9-A078-EE45081BD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4" y="723123"/>
            <a:ext cx="3543300" cy="1457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CAEAE8-5A1D-A3E3-3ECB-CC863F020F35}"/>
              </a:ext>
            </a:extLst>
          </p:cNvPr>
          <p:cNvSpPr txBox="1"/>
          <p:nvPr/>
        </p:nvSpPr>
        <p:spPr>
          <a:xfrm>
            <a:off x="3666799" y="6153659"/>
            <a:ext cx="167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44F4E10-E5E3-6EBF-8C34-AA86DFEF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00" y="2413605"/>
            <a:ext cx="11055040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Vision: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single, Super App that unifies smart meter data, connected appliance insights, and home automation controls.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 Orchestration: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Moves beyond simple monitoring to actively optimize energy consumption in real time using AI.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 Empowerment: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real-time control, visibility on energy costs, and tracking of sustainability impact (carbon footprint).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using React Native (Frontend), Python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(Backend), and AWS IoT Core (for device simulation).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with a serverless architecture ready for integration with DISCOMs and scaling to millions of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green and white logo&#10;&#10;AI-generated content may be incorrect.">
            <a:extLst>
              <a:ext uri="{FF2B5EF4-FFF2-40B4-BE49-F238E27FC236}">
                <a16:creationId xmlns:a16="http://schemas.microsoft.com/office/drawing/2014/main" id="{486F29A9-16AF-4465-2A5F-3E1A239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774" y="852098"/>
            <a:ext cx="1905266" cy="1028844"/>
          </a:xfrm>
          <a:prstGeom prst="rect">
            <a:avLst/>
          </a:prstGeom>
        </p:spPr>
      </p:pic>
      <p:sp>
        <p:nvSpPr>
          <p:cNvPr id="7" name="Google Shape;57;p13">
            <a:extLst>
              <a:ext uri="{FF2B5EF4-FFF2-40B4-BE49-F238E27FC236}">
                <a16:creationId xmlns:a16="http://schemas.microsoft.com/office/drawing/2014/main" id="{DC7C51B3-B9FC-482C-B6E0-49576D3B96BB}"/>
              </a:ext>
            </a:extLst>
          </p:cNvPr>
          <p:cNvSpPr/>
          <p:nvPr/>
        </p:nvSpPr>
        <p:spPr>
          <a:xfrm>
            <a:off x="0" y="1801625"/>
            <a:ext cx="12192000" cy="261600"/>
          </a:xfrm>
          <a:prstGeom prst="rect">
            <a:avLst/>
          </a:prstGeom>
          <a:solidFill>
            <a:srgbClr val="081D5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rgbClr val="666666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CF6C72-7288-44E5-BF19-E9848690AD5B}"/>
              </a:ext>
            </a:extLst>
          </p:cNvPr>
          <p:cNvSpPr/>
          <p:nvPr/>
        </p:nvSpPr>
        <p:spPr>
          <a:xfrm>
            <a:off x="314000" y="1168657"/>
            <a:ext cx="54056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latin typeface="Arial" panose="020B0604020202020204" pitchFamily="34" charset="0"/>
              </a:rPr>
              <a:t>EnergiSync</a:t>
            </a:r>
            <a:r>
              <a:rPr lang="en-US" altLang="en-US" b="1" dirty="0">
                <a:latin typeface="Arial" panose="020B0604020202020204" pitchFamily="34" charset="0"/>
              </a:rPr>
              <a:t>: The Unified, Intelligent Super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69D378-01F6-177C-E196-202F96C7F68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3980" y="1318022"/>
            <a:ext cx="1100074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How different is it from any of the other existing ideas?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apps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passive aggregators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EnergiSync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proactive, AI-Orchestrated Super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shift focus from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 past usage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and optimizing future consumption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(P2P sharing, OCR Bill Audit) moves beyond simple utility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How will it be able to solve the problem?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Eliminates app-fragmentation by consolidating all data and control into one 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Guaranteed Savings: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 Tariff Optimization Engine uses AI to automatically shift appliance use to lowest-cost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 &amp; Transparency: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Photo Bill Buster feature addresses the fundamental consumer pain point of bill errors and hidden charges.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USP (Unique Selling Proposition) of the proposed solution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AI-Orchestrated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Delivers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10-15% cost savings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via intelligent scheduling.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Electricity Sharing with Neighbors: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first platform enabling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P2P micro-grid energy transactions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b="1" dirty="0"/>
              <a:t>Instant Bill Audit:</a:t>
            </a:r>
            <a:r>
              <a:rPr lang="en-US" dirty="0"/>
              <a:t> OCR-based auditing and one-tap complaint filing for </a:t>
            </a:r>
            <a:r>
              <a:rPr lang="en-US" b="1" dirty="0"/>
              <a:t>bill accuracy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green and white logo&#10;&#10;AI-generated content may be incorrect.">
            <a:extLst>
              <a:ext uri="{FF2B5EF4-FFF2-40B4-BE49-F238E27FC236}">
                <a16:creationId xmlns:a16="http://schemas.microsoft.com/office/drawing/2014/main" id="{69E6B868-440D-1144-058A-5A9674A89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487" y="691035"/>
            <a:ext cx="1905266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15600" y="1179933"/>
            <a:ext cx="9982000" cy="5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115000"/>
              </a:lnSpc>
            </a:pPr>
            <a:r>
              <a:rPr lang="en-GB" sz="2400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List of features offered by the solution</a:t>
            </a:r>
            <a:endParaRPr sz="2400" dirty="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r>
              <a:rPr lang="en-US" sz="2400" b="1" dirty="0"/>
              <a:t>I. Core Energy Management</a:t>
            </a:r>
          </a:p>
          <a:p>
            <a:r>
              <a:rPr lang="en-US" sz="2400" dirty="0"/>
              <a:t>Unified Real-Time Monitoring Dashboard</a:t>
            </a:r>
          </a:p>
          <a:p>
            <a:r>
              <a:rPr lang="en-US" sz="2400" dirty="0"/>
              <a:t>Appliance Control and Automation (ON/OFF, Scheduling)</a:t>
            </a:r>
          </a:p>
          <a:p>
            <a:r>
              <a:rPr lang="en-US" sz="2400" dirty="0"/>
              <a:t>Dynamic Tariff Optimization Engine (AI-Powered)</a:t>
            </a:r>
          </a:p>
          <a:p>
            <a:r>
              <a:rPr lang="en-US" sz="2400" dirty="0"/>
              <a:t>Billing Simulation and Savings Tracker</a:t>
            </a:r>
          </a:p>
          <a:p>
            <a:r>
              <a:rPr lang="en-US" sz="2400" dirty="0"/>
              <a:t>Personalized Insights and Anomaly Detection</a:t>
            </a:r>
          </a:p>
          <a:p>
            <a:r>
              <a:rPr lang="en-US" sz="2400" dirty="0"/>
              <a:t>Seamless Onboarding and Integration</a:t>
            </a:r>
          </a:p>
          <a:p>
            <a:r>
              <a:rPr lang="en-US" sz="2400" b="1" dirty="0"/>
              <a:t>II. Unique &amp; Disruptive Features</a:t>
            </a:r>
          </a:p>
          <a:p>
            <a:r>
              <a:rPr lang="en-US" sz="2400" dirty="0"/>
              <a:t>Photo Bill Buster (OCR Audit &amp; Complaint Filing)</a:t>
            </a:r>
          </a:p>
          <a:p>
            <a:r>
              <a:rPr lang="en-US" sz="2400" dirty="0"/>
              <a:t>Electricity Sharing with Neighbors (P2P Trading)</a:t>
            </a:r>
          </a:p>
          <a:p>
            <a:r>
              <a:rPr lang="en-US" sz="2400" dirty="0"/>
              <a:t>Predictive Load Management (Weather/Price Anticipation)</a:t>
            </a:r>
          </a:p>
        </p:txBody>
      </p:sp>
      <p:pic>
        <p:nvPicPr>
          <p:cNvPr id="3" name="Picture 2" descr="A green and white logo&#10;&#10;AI-generated content may be incorrect.">
            <a:extLst>
              <a:ext uri="{FF2B5EF4-FFF2-40B4-BE49-F238E27FC236}">
                <a16:creationId xmlns:a16="http://schemas.microsoft.com/office/drawing/2014/main" id="{8CEF8DAA-450E-2996-228D-C4A14A1D9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4887" y="691035"/>
            <a:ext cx="1905266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15600" y="1120733"/>
            <a:ext cx="11360800" cy="53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115000"/>
              </a:lnSpc>
            </a:pPr>
            <a:r>
              <a:rPr lang="en-GB" sz="2133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 flow diagram or Use-case diagram</a:t>
            </a:r>
            <a:endParaRPr sz="2133" dirty="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endParaRPr sz="2133" b="1" dirty="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66973A-AF9B-E7FA-FDA6-845A4795F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" y="1936879"/>
            <a:ext cx="11360800" cy="4386322"/>
          </a:xfrm>
          <a:prstGeom prst="rect">
            <a:avLst/>
          </a:prstGeom>
        </p:spPr>
      </p:pic>
      <p:pic>
        <p:nvPicPr>
          <p:cNvPr id="5" name="Picture 4" descr="A green and white logo&#10;&#10;AI-generated content may be incorrect.">
            <a:extLst>
              <a:ext uri="{FF2B5EF4-FFF2-40B4-BE49-F238E27FC236}">
                <a16:creationId xmlns:a16="http://schemas.microsoft.com/office/drawing/2014/main" id="{58E72FC5-F9FE-2DC6-BCBA-75534BAF4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687" y="799535"/>
            <a:ext cx="1905266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088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284480" y="792480"/>
            <a:ext cx="11491920" cy="563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en-GB" sz="2133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Wireframe of the proposed solution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endParaRPr sz="2133" dirty="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" name="Picture 4" descr="A green and white logo&#10;&#10;AI-generated content may be incorrect.">
            <a:extLst>
              <a:ext uri="{FF2B5EF4-FFF2-40B4-BE49-F238E27FC236}">
                <a16:creationId xmlns:a16="http://schemas.microsoft.com/office/drawing/2014/main" id="{A18DB5E4-F152-7B93-CF23-AB42A86D28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9374" y="690879"/>
            <a:ext cx="1905266" cy="90065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610375DC-CD3A-DB1C-14A4-F91447A5A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360" y="1591537"/>
            <a:ext cx="11186160" cy="5047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415600" y="995200"/>
            <a:ext cx="11360800" cy="53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en-GB" sz="2133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Architecture diagram of the proposed solution</a:t>
            </a:r>
            <a:endParaRPr sz="2133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" name="Picture 4" descr="A diagram of a cloud server">
            <a:extLst>
              <a:ext uri="{FF2B5EF4-FFF2-40B4-BE49-F238E27FC236}">
                <a16:creationId xmlns:a16="http://schemas.microsoft.com/office/drawing/2014/main" id="{C51F14A0-A8CC-2E12-8107-B8763747E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20" y="1717040"/>
            <a:ext cx="9807879" cy="4756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4A7B16-1391-3830-7B8C-45CB303C3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9542" y="723756"/>
            <a:ext cx="1905266" cy="9932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415600" y="955033"/>
            <a:ext cx="11360800" cy="5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85000" lnSpcReduction="10000"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buClr>
                <a:srgbClr val="616161"/>
              </a:buClr>
              <a:buSzPts val="1800"/>
            </a:pPr>
            <a:r>
              <a:rPr lang="en-GB" sz="2133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Technologies to be used in the solution:</a:t>
            </a:r>
          </a:p>
          <a:p>
            <a:r>
              <a:rPr lang="en-US" sz="2800" b="1" dirty="0"/>
              <a:t>I. Frontend (Mobile App &amp; Web Portal)</a:t>
            </a:r>
          </a:p>
          <a:p>
            <a:r>
              <a:rPr lang="en-US" sz="2400" b="1" dirty="0"/>
              <a:t>React Native / React:</a:t>
            </a:r>
            <a:r>
              <a:rPr lang="en-US" sz="2400" dirty="0"/>
              <a:t> Used for a single codebase approach.</a:t>
            </a:r>
          </a:p>
          <a:p>
            <a:r>
              <a:rPr lang="en-US" sz="2400" b="1" dirty="0"/>
              <a:t>D3.js / Recharts:</a:t>
            </a:r>
            <a:r>
              <a:rPr lang="en-US" sz="2400" dirty="0"/>
              <a:t> Used for high-performance data visualization, rendering the real-time usage graphs.</a:t>
            </a:r>
          </a:p>
          <a:p>
            <a:r>
              <a:rPr lang="en-US" sz="3100" b="1" dirty="0"/>
              <a:t>II. Backend &amp; Core Logic</a:t>
            </a:r>
          </a:p>
          <a:p>
            <a:r>
              <a:rPr lang="en-US" sz="2400" b="1" dirty="0"/>
              <a:t>Python (</a:t>
            </a:r>
            <a:r>
              <a:rPr lang="en-US" sz="2400" b="1" dirty="0" err="1"/>
              <a:t>FastAPI</a:t>
            </a:r>
            <a:r>
              <a:rPr lang="en-US" sz="2400" b="1" dirty="0"/>
              <a:t>):</a:t>
            </a:r>
            <a:r>
              <a:rPr lang="en-US" sz="2400" dirty="0"/>
              <a:t> Selected for building the high-speed, asynchronous API layer..</a:t>
            </a:r>
          </a:p>
          <a:p>
            <a:r>
              <a:rPr lang="en-US" sz="2400" b="1" dirty="0"/>
              <a:t>TensorFlow Lite:</a:t>
            </a:r>
            <a:r>
              <a:rPr lang="en-US" sz="2400" dirty="0"/>
              <a:t> For deploying the core </a:t>
            </a:r>
            <a:r>
              <a:rPr lang="en-US" sz="2400" b="1" dirty="0"/>
              <a:t>Optimization Engine (AI)</a:t>
            </a:r>
            <a:r>
              <a:rPr lang="en-US" sz="2400" dirty="0"/>
              <a:t> model, allowing for lightweight and fast energy consumption predictions.</a:t>
            </a:r>
          </a:p>
          <a:p>
            <a:r>
              <a:rPr lang="en-US" sz="2400" b="1" dirty="0"/>
              <a:t>PostgreSQL:</a:t>
            </a:r>
            <a:r>
              <a:rPr lang="en-US" sz="2400" dirty="0"/>
              <a:t> Chosen as the robust database for storing smart meter data and P2P transaction records.</a:t>
            </a:r>
          </a:p>
          <a:p>
            <a:r>
              <a:rPr lang="en-US" sz="2400" b="1" dirty="0"/>
              <a:t>OCR Libraries (e.g., Tesseract/Google Vision API):</a:t>
            </a:r>
            <a:r>
              <a:rPr lang="en-US" sz="2400" dirty="0"/>
              <a:t> Integrated specifically for the </a:t>
            </a:r>
            <a:r>
              <a:rPr lang="en-US" sz="2400" b="1" dirty="0"/>
              <a:t>Photo Bill Buster</a:t>
            </a:r>
            <a:r>
              <a:rPr lang="en-US" sz="2400" dirty="0"/>
              <a:t> feature to accurately read and parse data from paper bills.</a:t>
            </a:r>
          </a:p>
          <a:p>
            <a:r>
              <a:rPr lang="en-US" sz="3100" b="1" dirty="0"/>
              <a:t>III. IoT &amp; Cloud Infrastructure</a:t>
            </a:r>
          </a:p>
          <a:p>
            <a:r>
              <a:rPr lang="en-US" sz="2400" b="1" dirty="0"/>
              <a:t>AWS IoT Core:</a:t>
            </a:r>
            <a:r>
              <a:rPr lang="en-US" sz="2400" dirty="0"/>
              <a:t> The managed service used as the secure gateway to ingest real-time data from all Smart Meters and connected appliances via MQTT.</a:t>
            </a:r>
          </a:p>
          <a:p>
            <a:r>
              <a:rPr lang="en-US" sz="2400" b="1" dirty="0"/>
              <a:t>MQTT Protocol:</a:t>
            </a:r>
            <a:r>
              <a:rPr lang="en-US" sz="2400" dirty="0"/>
              <a:t> The lightweight messaging protocol used for reliable, two-way communication between the devices and the cloud.</a:t>
            </a:r>
          </a:p>
          <a:p>
            <a:pPr>
              <a:lnSpc>
                <a:spcPct val="115000"/>
              </a:lnSpc>
              <a:spcAft>
                <a:spcPts val="1600"/>
              </a:spcAft>
              <a:buClr>
                <a:srgbClr val="616161"/>
              </a:buClr>
              <a:buSzPts val="1800"/>
            </a:pPr>
            <a:endParaRPr sz="2133" dirty="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" name="Picture 2" descr="A green and white logo&#10;&#10;AI-generated content may be incorrect.">
            <a:extLst>
              <a:ext uri="{FF2B5EF4-FFF2-40B4-BE49-F238E27FC236}">
                <a16:creationId xmlns:a16="http://schemas.microsoft.com/office/drawing/2014/main" id="{D95EBE17-95AC-69EF-8E04-9D991522B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127" y="691035"/>
            <a:ext cx="1905266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2" title="Instinct.S2.png"/>
          <p:cNvPicPr preferRelativeResize="0"/>
          <p:nvPr/>
        </p:nvPicPr>
        <p:blipFill rotWithShape="1">
          <a:blip r:embed="rId3">
            <a:alphaModFix/>
          </a:blip>
          <a:srcRect b="89923"/>
          <a:stretch/>
        </p:blipFill>
        <p:spPr>
          <a:xfrm>
            <a:off x="0" y="0"/>
            <a:ext cx="12192000" cy="69103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2"/>
          <p:cNvSpPr txBox="1"/>
          <p:nvPr/>
        </p:nvSpPr>
        <p:spPr>
          <a:xfrm>
            <a:off x="598480" y="1010093"/>
            <a:ext cx="11360800" cy="5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buClr>
                <a:srgbClr val="616161"/>
              </a:buClr>
              <a:buSzPts val="1800"/>
            </a:pPr>
            <a:r>
              <a:rPr lang="en-GB" sz="2800" u="sng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Impact of </a:t>
            </a:r>
            <a:r>
              <a:rPr lang="en-GB" sz="2800" u="sng" dirty="0" err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EnegiSync</a:t>
            </a:r>
            <a:r>
              <a:rPr lang="en-GB" sz="2800" u="sng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</a:t>
            </a:r>
          </a:p>
          <a:p>
            <a:r>
              <a:rPr lang="en-US" sz="2400" b="1" dirty="0">
                <a:effectLst/>
              </a:rPr>
              <a:t>Average Indian family today:</a:t>
            </a:r>
            <a:r>
              <a:rPr lang="en-US" sz="2400" dirty="0">
                <a:effectLst/>
              </a:rPr>
              <a:t> ₹48,000 electricity bill per year</a:t>
            </a:r>
          </a:p>
          <a:p>
            <a:r>
              <a:rPr lang="en-US" sz="2400" b="1" dirty="0">
                <a:effectLst/>
              </a:rPr>
              <a:t>With </a:t>
            </a:r>
            <a:r>
              <a:rPr lang="en-GB" sz="2400" dirty="0" err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EnegiSync</a:t>
            </a:r>
            <a:r>
              <a:rPr lang="en-US" sz="2400" b="1" dirty="0">
                <a:effectLst/>
              </a:rPr>
              <a:t> (just open in browser):</a:t>
            </a:r>
            <a:endParaRPr lang="en-US" sz="2400" dirty="0">
              <a:effectLst/>
            </a:endParaRPr>
          </a:p>
          <a:p>
            <a:r>
              <a:rPr lang="en-US" sz="2400" dirty="0"/>
              <a:t>Saves ₹36,000 – ₹72,000 every year (</a:t>
            </a:r>
            <a:r>
              <a:rPr lang="en-US" sz="2400" dirty="0" err="1"/>
              <a:t>ToD</a:t>
            </a:r>
            <a:r>
              <a:rPr lang="en-US" sz="2400" dirty="0"/>
              <a:t> shifting + Solar energy selling) </a:t>
            </a:r>
          </a:p>
          <a:p>
            <a:r>
              <a:rPr lang="en-US" sz="2400" b="1" dirty="0">
                <a:effectLst/>
              </a:rPr>
              <a:t>Final result:</a:t>
            </a:r>
            <a:r>
              <a:rPr lang="en-US" sz="2400" dirty="0">
                <a:effectLst/>
              </a:rPr>
              <a:t> Bill becomes lower that the past expenses.</a:t>
            </a:r>
          </a:p>
          <a:p>
            <a:r>
              <a:rPr lang="en-US" sz="2400" dirty="0">
                <a:effectLst/>
              </a:rPr>
              <a:t>Family puts ₹48,000 – ₹108,000 extra in their pocket every single year.</a:t>
            </a:r>
            <a:endParaRPr sz="2133" dirty="0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" name="Picture 2" descr="A green and white logo&#10;&#10;AI-generated content may be incorrect.">
            <a:extLst>
              <a:ext uri="{FF2B5EF4-FFF2-40B4-BE49-F238E27FC236}">
                <a16:creationId xmlns:a16="http://schemas.microsoft.com/office/drawing/2014/main" id="{FC570544-4D73-5920-954D-D11BFF7CB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007" y="770818"/>
            <a:ext cx="1905266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 title="Instinct.S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718</Words>
  <Application>Microsoft Office PowerPoint</Application>
  <PresentationFormat>Widescreen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Poppins Medium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Lohith</dc:creator>
  <cp:lastModifiedBy>Vaibhav Tyagi</cp:lastModifiedBy>
  <cp:revision>6</cp:revision>
  <dcterms:created xsi:type="dcterms:W3CDTF">2025-12-06T12:30:22Z</dcterms:created>
  <dcterms:modified xsi:type="dcterms:W3CDTF">2025-12-07T16:51:29Z</dcterms:modified>
</cp:coreProperties>
</file>